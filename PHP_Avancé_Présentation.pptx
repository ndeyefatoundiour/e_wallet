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2194560" cy="914400"/>
          </a:xfrm>
          <a:prstGeom prst="rect">
            <a:avLst/>
          </a:prstGeom>
          <a:solidFill>
            <a:srgbClr val="4F5B93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640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F6FC"/>
                </a:solidFill>
              </a:rPr>
              <a:t>🐘  PHP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017520" y="5486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Concepts Avancés PHP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017520" y="1417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</a:rPr>
              <a:t>Fonctions avancées · Tableaux · Composer · Packagist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194560"/>
            <a:ext cx="1920240" cy="14173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2194560"/>
            <a:ext cx="1920240" cy="7315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286000"/>
            <a:ext cx="192024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Fonctions Anonymes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Arrow Functions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Closures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2194560"/>
            <a:ext cx="1920240" cy="14173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2194560"/>
            <a:ext cx="1920240" cy="731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2286000"/>
            <a:ext cx="192024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Fonctions Natives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de Tableaux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array_*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2194560"/>
            <a:ext cx="1920240" cy="14173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194560"/>
            <a:ext cx="1920240" cy="73152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286000"/>
            <a:ext cx="192024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Composer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Gestionnaire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de Dépendances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2194560"/>
            <a:ext cx="1920240" cy="14173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20840" y="2194560"/>
            <a:ext cx="1920240" cy="7315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286000"/>
            <a:ext cx="192024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Packagist.org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Écosystème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</a:rPr>
              <a:t>&amp; Packages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6FC"/>
                </a:solidFill>
              </a:rPr>
              <a:t>Présentation Technique — PHP Avancé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F5B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Fonctions Anonymes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Arrow Functions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Closures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Programmation fonctionnelle en PHP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PHP Avancé — Partie 1 / 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FONCTIONS ANONYMES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01 / 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931920" cy="8229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393192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📌  Définition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Une fonction sans nom, assignée à une variable ou passée en argument.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206240" cy="8229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914400"/>
            <a:ext cx="420624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987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✅  Cas d'usage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Callbacks · usort / array_filter · Événements · Middleware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1874520"/>
            <a:ext cx="8412480" cy="3017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1965960"/>
            <a:ext cx="118872" cy="118872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" y="1965960"/>
            <a:ext cx="118872" cy="118872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" y="1965960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167128"/>
            <a:ext cx="8193024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Assignée à une variable
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$carre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($n)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$n * $n;
};
</a:t>
            </a:r>
            <a:pPr indent="0" marL="0">
              <a:buNone/>
            </a:pPr>
            <a:r>
              <a:rPr lang="en-US" sz="1050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$carre(5);  // 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
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Passée en argument (callback)
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$nombres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[3, 1, 7, 2];
</a:t>
            </a:r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usort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($nombres,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($a, $b)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$a - $b;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2, 3, 7]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B3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ARROW FUNCTIONS  —  fn() =&gt;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01 / B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</a:rPr>
                        <a:t>Critère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B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</a:rPr>
                        <a:t>Fonction Anonyme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B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3B341"/>
                          </a:solidFill>
                        </a:rPr>
                        <a:t>Arrow Function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5B9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</a:rPr>
                        <a:t>Syntaxe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</a:rPr>
                        <a:t>function($x) { return $x*2; }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</a:rPr>
                        <a:t>fn($x) =&gt; $x*2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</a:rPr>
                        <a:t>Longueur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</a:rPr>
                        <a:t>Verbeuse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</a:rPr>
                        <a:t>Concise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</a:rPr>
                        <a:t>Contexte this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</a:rPr>
                        <a:t>Nouveau contexte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</a:rPr>
                        <a:t>Hérite du parent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</a:rPr>
                        <a:t>Mot-clé use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</a:rPr>
                        <a:t>Requis pour les vars externes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</a:rPr>
                        <a:t>Automatique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</a:rPr>
                        <a:t>Imbrication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</a:rPr>
                        <a:t>Possible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</a:rPr>
                        <a:t>Limitée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</a:rPr>
                        <a:t>PHP version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</a:rPr>
                        <a:t>Toutes versions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</a:rPr>
                        <a:t>PHP 7.4+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337560"/>
            <a:ext cx="8412480" cy="1600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" y="3429000"/>
            <a:ext cx="118872" cy="118872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10" name="Shape 7"/>
          <p:cNvSpPr/>
          <p:nvPr/>
        </p:nvSpPr>
        <p:spPr>
          <a:xfrm>
            <a:off x="704088" y="3429000"/>
            <a:ext cx="118872" cy="118872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1" name="Shape 8"/>
          <p:cNvSpPr/>
          <p:nvPr/>
        </p:nvSpPr>
        <p:spPr>
          <a:xfrm>
            <a:off x="905256" y="3429000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3630168"/>
            <a:ext cx="819302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function — PHP 7.4+
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$double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($n) =&gt; $n * 2;
</a:t>
            </a:r>
            <a:pPr indent="0" marL="0">
              <a:buNone/>
            </a:pPr>
            <a:r>
              <a:rPr lang="en-US" sz="1050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$double(5);  // 10
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Capture automatique du contexte
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$facteur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3;
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$multiply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($n) =&gt; $n * $facteur;  // pas besoin de 'use'
</a:t>
            </a:r>
            <a:pPr indent="0" marL="0">
              <a:buNone/>
            </a:pPr>
            <a:r>
              <a:rPr lang="en-US" sz="1050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$multiply(4);  // 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F79C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9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CLOSURES — La Magie des Portées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01 / 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1920240" cy="15087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96112"/>
            <a:ext cx="192024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6926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14081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Capture par valeur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(use $var)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Copie la valeur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au moment de la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création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96112"/>
            <a:ext cx="1920240" cy="15087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896112"/>
            <a:ext cx="192024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96926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468880" y="14081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8166"/>
                </a:solidFill>
              </a:rPr>
              <a:t>Capture par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78166"/>
                </a:solidFill>
              </a:rPr>
              <a:t>référence (use &amp;$var)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Modifie la variable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originale depuis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la closure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896112"/>
            <a:ext cx="1920240" cy="15087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896112"/>
            <a:ext cx="192024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96926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0" y="14081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Closure bindTo()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Lie la closure 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un objet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spécifique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896112"/>
            <a:ext cx="1920240" cy="15087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5120" y="896112"/>
            <a:ext cx="192024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96926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675120" y="14081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8CFF"/>
                </a:solidFill>
              </a:rPr>
              <a:t>Factories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C8CFF"/>
                </a:solidFill>
              </a:rPr>
              <a:t>fonctions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Génère des fonctions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configurables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dynamiquement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542032"/>
            <a:ext cx="8412480" cy="2423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2633472"/>
            <a:ext cx="118872" cy="118872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29" name="Shape 27"/>
          <p:cNvSpPr/>
          <p:nvPr/>
        </p:nvSpPr>
        <p:spPr>
          <a:xfrm>
            <a:off x="704088" y="2633472"/>
            <a:ext cx="118872" cy="118872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" y="2633472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2834640"/>
            <a:ext cx="8193024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Capture par valeur
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$message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'Bonjour';
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$saluer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($nom) 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($message)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"$message, $nom!"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};
$message = 'Ciao';  // ne change pas
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$saluer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('Alice');  // 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Bonjour, Alice!
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Factory de fonctions — Pattern puissant
</a:t>
            </a:r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multiplicateur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($x)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($n) =&gt; $n * $x;
}
</a:t>
            </a:r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$triple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multiplicateur(3);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$triple(7);  // </a:t>
            </a:r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4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Fonctions Natives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Tableaux PHP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7F3D0"/>
                </a:solidFill>
              </a:rPr>
              <a:t>Les fonctions array_* pour maîtriser vos données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F3D0"/>
                </a:solidFill>
              </a:rPr>
              <a:t>PHP Avancé — Partie 2 / 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TRANSFORMATION &amp; FILTRAGE DE TABLEAUX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02 / 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743200" cy="411480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27432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9509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array_map()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576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Applique une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fonction à chaque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élément et retourne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un nouveau tableau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2560320" cy="2468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450592"/>
            <a:ext cx="91440" cy="91440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450592"/>
            <a:ext cx="91440" cy="9144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" y="245059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60604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$nums = [1,2,3,4];
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$squares = </a:t>
            </a:r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array_map
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(fn($n)=&gt;$n**2, $nums);
</a:t>
            </a:r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[1,4,9,16]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868680"/>
            <a:ext cx="2743200" cy="411480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9509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array_filter()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29184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Garde les éléments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qui passent le test.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Retourne un tableau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filtré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359152"/>
            <a:ext cx="2560320" cy="2468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4992" y="2450592"/>
            <a:ext cx="91440" cy="91440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22" name="Shape 20"/>
          <p:cNvSpPr/>
          <p:nvPr/>
        </p:nvSpPr>
        <p:spPr>
          <a:xfrm>
            <a:off x="3493008" y="2450592"/>
            <a:ext cx="91440" cy="9144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3" name="Shape 21"/>
          <p:cNvSpPr/>
          <p:nvPr/>
        </p:nvSpPr>
        <p:spPr>
          <a:xfrm>
            <a:off x="3621024" y="245059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260604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$data = [1,2,3,4,5,6];
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$pairs = </a:t>
            </a:r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array_filter
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($data,
  fn($n)=&gt;$n%2===0);
</a:t>
            </a:r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[2, 4, 6]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868680"/>
            <a:ext cx="2743200" cy="411480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868680"/>
            <a:ext cx="27432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9509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array_reduce()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1792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Réduit un tableau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à une seule valeur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(somme, produit,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accumulateur…)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359152"/>
            <a:ext cx="2560320" cy="2468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91072" y="2450592"/>
            <a:ext cx="91440" cy="91440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31" name="Shape 29"/>
          <p:cNvSpPr/>
          <p:nvPr/>
        </p:nvSpPr>
        <p:spPr>
          <a:xfrm>
            <a:off x="6419088" y="2450592"/>
            <a:ext cx="91440" cy="91440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32" name="Shape 30"/>
          <p:cNvSpPr/>
          <p:nvPr/>
        </p:nvSpPr>
        <p:spPr>
          <a:xfrm>
            <a:off x="6547104" y="245059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60604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$nums = [1,2,3,4,5];
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$sum = </a:t>
            </a:r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array_reduce
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($nums,
  fn($c,$i)=&gt;$c+$i, 0);
</a:t>
            </a:r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FONCTIONS array_* ESSENTIELLES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02 / 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2743200" cy="9326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96112"/>
            <a:ext cx="64008" cy="9326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41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array_merge()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12161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Fusionne deux tableaux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array_merge($a, $b)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896112"/>
            <a:ext cx="2743200" cy="9326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96112"/>
            <a:ext cx="64008" cy="932688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941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array_slice()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37560" y="12161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Extrait une portion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array_slice($arr, 1, 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896112"/>
            <a:ext cx="2743200" cy="9326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896112"/>
            <a:ext cx="64008" cy="932688"/>
          </a:xfrm>
          <a:prstGeom prst="rect">
            <a:avLst/>
          </a:prstGeom>
          <a:solidFill>
            <a:srgbClr val="FF79C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941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array_splice()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0" y="12161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Supprime/insère des éléments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array_splice($arr, 1, 2)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1947672"/>
            <a:ext cx="2743200" cy="9326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1947672"/>
            <a:ext cx="64008" cy="93268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array_search()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2267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Recherche une valeur → clé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array_search('php', $arr)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1947672"/>
            <a:ext cx="2743200" cy="9326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1947672"/>
            <a:ext cx="64008" cy="93268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array_unique()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37560" y="2267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Supprime les doublons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3756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array_unique([1,1,2,3])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1947672"/>
            <a:ext cx="2743200" cy="9326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1947672"/>
            <a:ext cx="64008" cy="9326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array_flip()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17920" y="2267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Inverse clés ↔ valeurs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1792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array_flip(['a'=&gt;1,'b'=&gt;2])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2999232"/>
            <a:ext cx="2743200" cy="9326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2999232"/>
            <a:ext cx="64008" cy="9326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044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array_keys()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33192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Retourne toutes les clés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array_keys($assocArr)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0" y="2999232"/>
            <a:ext cx="2743200" cy="9326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0" y="2999232"/>
            <a:ext cx="64008" cy="932688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44" name="Text 42"/>
          <p:cNvSpPr/>
          <p:nvPr/>
        </p:nvSpPr>
        <p:spPr>
          <a:xfrm>
            <a:off x="3337560" y="3044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array_values()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337560" y="33192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Réindexe les valeurs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33756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array_values($filteredArr)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80760" y="2999232"/>
            <a:ext cx="2743200" cy="9326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080760" y="2999232"/>
            <a:ext cx="64008" cy="932688"/>
          </a:xfrm>
          <a:prstGeom prst="rect">
            <a:avLst/>
          </a:prstGeom>
          <a:solidFill>
            <a:srgbClr val="FF79C6"/>
          </a:solidFill>
          <a:ln/>
        </p:spPr>
      </p:sp>
      <p:sp>
        <p:nvSpPr>
          <p:cNvPr id="49" name="Text 47"/>
          <p:cNvSpPr/>
          <p:nvPr/>
        </p:nvSpPr>
        <p:spPr>
          <a:xfrm>
            <a:off x="6217920" y="3044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array_chunk()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217920" y="33192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Découpe en sous-tableaux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21792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array_chunk($arr, 2)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4050792"/>
            <a:ext cx="2743200" cy="9326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0040" y="4050792"/>
            <a:ext cx="64008" cy="93268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096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in_array()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57200" y="43708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Vérifie si une valeur existe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5720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in_array('php', $arr)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00400" y="4050792"/>
            <a:ext cx="2743200" cy="9326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200400" y="4050792"/>
            <a:ext cx="64008" cy="93268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59" name="Text 57"/>
          <p:cNvSpPr/>
          <p:nvPr/>
        </p:nvSpPr>
        <p:spPr>
          <a:xfrm>
            <a:off x="3337560" y="4096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array_key_exists()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3337560" y="43708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Vérifie si une clé existe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33756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array_key_exists('id', $arr)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080760" y="4050792"/>
            <a:ext cx="2743200" cy="932688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080760" y="4050792"/>
            <a:ext cx="64008" cy="9326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4" name="Text 62"/>
          <p:cNvSpPr/>
          <p:nvPr/>
        </p:nvSpPr>
        <p:spPr>
          <a:xfrm>
            <a:off x="6217920" y="4096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sort() / rsort()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6217920" y="43708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</a:rPr>
              <a:t>Trie ascendant/descendant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21792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sort($arr)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Composer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78166"/>
                </a:solidFill>
              </a:rPr>
              <a:t>Le gestionnaire de dépendances PHP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</a:rPr>
              <a:t>"npm" pour PHP — Gérez vos bibliothèques simplement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8166"/>
                </a:solidFill>
              </a:rPr>
              <a:t>PHP Avancé — Partie 3 / 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8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COMPOSER — QU'EST-CE QUE C'EST 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03 / 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572000" cy="8229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601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</a:rPr>
              <a:t>Gestion des dépendances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2618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Installe et met à jour les bibliothèques PHP tierces automatiquement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4572000" cy="8229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9202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</a:rPr>
              <a:t>Résolution de conflits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221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Calcule la version compatible de chaque package (SAT solver)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572000" cy="8229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8803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</a:rPr>
              <a:t>Autoloading PSR-4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1821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Charge les classes automatiquement sans require/include manuel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4572000" cy="82296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8404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</a:rPr>
              <a:t>Sécurité &amp; stabilité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1422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Verrouille les versions exactes via composer.lock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12080" y="896112"/>
            <a:ext cx="3657600" cy="36576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896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🖥️  Installation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12080" y="1325880"/>
            <a:ext cx="365760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49240" y="1417320"/>
            <a:ext cx="118872" cy="118872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27" name="Shape 25"/>
          <p:cNvSpPr/>
          <p:nvPr/>
        </p:nvSpPr>
        <p:spPr>
          <a:xfrm>
            <a:off x="5550408" y="1417320"/>
            <a:ext cx="118872" cy="118872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8" name="Shape 26"/>
          <p:cNvSpPr/>
          <p:nvPr/>
        </p:nvSpPr>
        <p:spPr>
          <a:xfrm>
            <a:off x="5751576" y="1417320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9" name="Text 27"/>
          <p:cNvSpPr/>
          <p:nvPr/>
        </p:nvSpPr>
        <p:spPr>
          <a:xfrm>
            <a:off x="5321808" y="1618488"/>
            <a:ext cx="343814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Linux / macOS
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-sS https://getcomposer.org/
   installer | php
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Globalement
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 composer.phar /usr/local/bin/composer
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Vérification
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--version
</a:t>
            </a:r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Composer 2.x.x
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
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Télécharger Composer-Setup.exe
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sur getcomposer.org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8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COMPOSER — FICHIERS &amp; COMMANDES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03 / 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4572000" cy="347472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961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📄  composer.json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07592"/>
            <a:ext cx="457200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399032"/>
            <a:ext cx="118872" cy="118872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" y="1399032"/>
            <a:ext cx="118872" cy="118872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" y="1399032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600200"/>
            <a:ext cx="435254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"monapp/monprojet"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"require"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
</a:t>
            </a:r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"php"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"&gt;=8.0"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"monolog/monolog"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"^3.0"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},
</a:t>
            </a:r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"require-dev"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
</a:t>
            </a:r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"phpunit/phpunit"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"^10.0"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},
</a:t>
            </a:r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"autoload"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
</a:t>
            </a:r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"psr-4"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
</a:t>
            </a:r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"App\\"</a:t>
            </a:r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0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"src/"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896112"/>
            <a:ext cx="3657600" cy="347472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896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8166"/>
                </a:solidFill>
              </a:rPr>
              <a:t>⌨️  Commandes Essentielles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12080" y="1307592"/>
            <a:ext cx="3657600" cy="40233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7" name="Text 15"/>
          <p:cNvSpPr/>
          <p:nvPr/>
        </p:nvSpPr>
        <p:spPr>
          <a:xfrm>
            <a:off x="5321808" y="13350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init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21808" y="1508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Initialise un projet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12080" y="1764792"/>
            <a:ext cx="3657600" cy="40233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0" name="Text 18"/>
          <p:cNvSpPr/>
          <p:nvPr/>
        </p:nvSpPr>
        <p:spPr>
          <a:xfrm>
            <a:off x="5321808" y="17922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require vendor/pkg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21808" y="1965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Installe un package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0" y="2221992"/>
            <a:ext cx="3657600" cy="40233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3" name="Text 21"/>
          <p:cNvSpPr/>
          <p:nvPr/>
        </p:nvSpPr>
        <p:spPr>
          <a:xfrm>
            <a:off x="5321808" y="22494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install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21808" y="24231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Installe via composer.lock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12080" y="2679192"/>
            <a:ext cx="3657600" cy="40233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6" name="Text 24"/>
          <p:cNvSpPr/>
          <p:nvPr/>
        </p:nvSpPr>
        <p:spPr>
          <a:xfrm>
            <a:off x="5321808" y="27066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update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21808" y="28803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Met à jour les packages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12080" y="3136392"/>
            <a:ext cx="3657600" cy="40233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9" name="Text 27"/>
          <p:cNvSpPr/>
          <p:nvPr/>
        </p:nvSpPr>
        <p:spPr>
          <a:xfrm>
            <a:off x="5321808" y="31638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remove vendor/pkg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21808" y="3337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Désinstalle un package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212080" y="3593592"/>
            <a:ext cx="3657600" cy="40233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2" name="Text 30"/>
          <p:cNvSpPr/>
          <p:nvPr/>
        </p:nvSpPr>
        <p:spPr>
          <a:xfrm>
            <a:off x="5321808" y="36210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dump-autoload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21808" y="3794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Régénère l'autoloader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12080" y="4050792"/>
            <a:ext cx="3657600" cy="40233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5" name="Text 33"/>
          <p:cNvSpPr/>
          <p:nvPr/>
        </p:nvSpPr>
        <p:spPr>
          <a:xfrm>
            <a:off x="5321808" y="40782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show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21808" y="4251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Liste les packages installés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12080" y="4507992"/>
            <a:ext cx="3657600" cy="40233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8" name="Text 36"/>
          <p:cNvSpPr/>
          <p:nvPr/>
        </p:nvSpPr>
        <p:spPr>
          <a:xfrm>
            <a:off x="5321808" y="45354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validate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21808" y="47091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Valide composer.json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Packagist.org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C8CFF"/>
                </a:solidFill>
              </a:rPr>
              <a:t>L'écosystème des packages PHP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</a:rPr>
              <a:t>Le référentiel central de tous les packages PHP open-source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703320"/>
            <a:ext cx="2468880" cy="64008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703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C8CFF"/>
                </a:solidFill>
              </a:rPr>
              <a:t>340K+  Packages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3703320"/>
            <a:ext cx="2468880" cy="64008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703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C8CFF"/>
                </a:solidFill>
              </a:rPr>
              <a:t>1M+  Versions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3703320"/>
            <a:ext cx="2468880" cy="64008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3703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C8CFF"/>
                </a:solidFill>
              </a:rPr>
              <a:t>10M+  Téléch./jour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C8CFF"/>
                </a:solidFill>
              </a:rPr>
              <a:t>PHP Avancé — Partie 4 / 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PACKAGIST.ORG — ÉCOSYSTÈME &amp; PACKAGES POPULAIRES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04 / 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1508760" cy="9601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9326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👨‍💻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Développeur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créé un package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0515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C8CFF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93392" y="896112"/>
            <a:ext cx="1508760" cy="9601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93392" y="9326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93392" y="13716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Push sur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GitHub / GitLab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02152" y="10515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C8CFF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12464" y="896112"/>
            <a:ext cx="1508760" cy="9601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12464" y="9326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12464" y="13716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Lié 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Packagist.org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21224" y="10515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C8CFF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31536" y="896112"/>
            <a:ext cx="1508760" cy="9601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31536" y="9326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31536" y="13716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Composer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installe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0296" y="10515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C8CFF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150608" y="896112"/>
            <a:ext cx="1508760" cy="96012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50608" y="9326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50608" y="13716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Disponible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</a:rPr>
              <a:t>dans votre app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993392"/>
            <a:ext cx="8595360" cy="347472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19933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C8CFF"/>
                </a:solidFill>
              </a:rPr>
              <a:t>🌟  Packages Incontournables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2423160"/>
            <a:ext cx="2743200" cy="71323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423160"/>
            <a:ext cx="54864" cy="713232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4597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laravel/laravel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2752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Framework Web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23160" y="2560320"/>
            <a:ext cx="530352" cy="2286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33" name="Text 31"/>
          <p:cNvSpPr/>
          <p:nvPr/>
        </p:nvSpPr>
        <p:spPr>
          <a:xfrm>
            <a:off x="2395728" y="25146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</a:rPr>
              <a:t>📥 250M+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72968" y="2423160"/>
            <a:ext cx="2743200" cy="71323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72968" y="2423160"/>
            <a:ext cx="54864" cy="7132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6" name="Text 34"/>
          <p:cNvSpPr/>
          <p:nvPr/>
        </p:nvSpPr>
        <p:spPr>
          <a:xfrm>
            <a:off x="3310128" y="24597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symfony/symfony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10128" y="2752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Framework/Composants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21808" y="2560320"/>
            <a:ext cx="530352" cy="2286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39" name="Text 37"/>
          <p:cNvSpPr/>
          <p:nvPr/>
        </p:nvSpPr>
        <p:spPr>
          <a:xfrm>
            <a:off x="5294376" y="25146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</a:rPr>
              <a:t>📥 200M+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71616" y="2423160"/>
            <a:ext cx="2743200" cy="71323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71616" y="2423160"/>
            <a:ext cx="54864" cy="7132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2" name="Text 40"/>
          <p:cNvSpPr/>
          <p:nvPr/>
        </p:nvSpPr>
        <p:spPr>
          <a:xfrm>
            <a:off x="6208776" y="24597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monolog/monolog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08776" y="2752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Logging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20456" y="2560320"/>
            <a:ext cx="530352" cy="2286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45" name="Text 43"/>
          <p:cNvSpPr/>
          <p:nvPr/>
        </p:nvSpPr>
        <p:spPr>
          <a:xfrm>
            <a:off x="8193024" y="25146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</a:rPr>
              <a:t>📥 500M+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3246120"/>
            <a:ext cx="2743200" cy="71323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3246120"/>
            <a:ext cx="54864" cy="71323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48" name="Text 46"/>
          <p:cNvSpPr/>
          <p:nvPr/>
        </p:nvSpPr>
        <p:spPr>
          <a:xfrm>
            <a:off x="411480" y="32826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phpunit/phpunit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11480" y="3575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Tests unitaires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423160" y="3383280"/>
            <a:ext cx="530352" cy="2286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51" name="Text 49"/>
          <p:cNvSpPr/>
          <p:nvPr/>
        </p:nvSpPr>
        <p:spPr>
          <a:xfrm>
            <a:off x="2395728" y="33375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</a:rPr>
              <a:t>📥 400M+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172968" y="3246120"/>
            <a:ext cx="2743200" cy="71323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172968" y="3246120"/>
            <a:ext cx="54864" cy="713232"/>
          </a:xfrm>
          <a:prstGeom prst="rect">
            <a:avLst/>
          </a:prstGeom>
          <a:solidFill>
            <a:srgbClr val="FF79C6"/>
          </a:solidFill>
          <a:ln/>
        </p:spPr>
      </p:sp>
      <p:sp>
        <p:nvSpPr>
          <p:cNvPr id="54" name="Text 52"/>
          <p:cNvSpPr/>
          <p:nvPr/>
        </p:nvSpPr>
        <p:spPr>
          <a:xfrm>
            <a:off x="3310128" y="32826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guzzlehttp/guzzle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310128" y="3575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Client HTTP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321808" y="3383280"/>
            <a:ext cx="530352" cy="2286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57" name="Text 55"/>
          <p:cNvSpPr/>
          <p:nvPr/>
        </p:nvSpPr>
        <p:spPr>
          <a:xfrm>
            <a:off x="5294376" y="33375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</a:rPr>
              <a:t>📥 300M+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071616" y="3246120"/>
            <a:ext cx="2743200" cy="71323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071616" y="3246120"/>
            <a:ext cx="54864" cy="71323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60" name="Text 58"/>
          <p:cNvSpPr/>
          <p:nvPr/>
        </p:nvSpPr>
        <p:spPr>
          <a:xfrm>
            <a:off x="6208776" y="32826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doctrine/orm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208776" y="3575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ORM Base de données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220456" y="3383280"/>
            <a:ext cx="530352" cy="2286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63" name="Text 61"/>
          <p:cNvSpPr/>
          <p:nvPr/>
        </p:nvSpPr>
        <p:spPr>
          <a:xfrm>
            <a:off x="8193024" y="33375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</a:rPr>
              <a:t>📥 150M+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74320" y="4069080"/>
            <a:ext cx="2743200" cy="71323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274320" y="4069080"/>
            <a:ext cx="54864" cy="7132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6" name="Text 64"/>
          <p:cNvSpPr/>
          <p:nvPr/>
        </p:nvSpPr>
        <p:spPr>
          <a:xfrm>
            <a:off x="411480" y="41056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twig/twig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411480" y="4398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Moteur de templates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423160" y="4206240"/>
            <a:ext cx="530352" cy="2286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69" name="Text 67"/>
          <p:cNvSpPr/>
          <p:nvPr/>
        </p:nvSpPr>
        <p:spPr>
          <a:xfrm>
            <a:off x="2395728" y="41605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</a:rPr>
              <a:t>📥 200M+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172968" y="4069080"/>
            <a:ext cx="2743200" cy="71323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172968" y="4069080"/>
            <a:ext cx="54864" cy="7132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2" name="Text 70"/>
          <p:cNvSpPr/>
          <p:nvPr/>
        </p:nvSpPr>
        <p:spPr>
          <a:xfrm>
            <a:off x="3310128" y="41056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vlucas/phpdotenv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3310128" y="4398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Variables d'env.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321808" y="4206240"/>
            <a:ext cx="530352" cy="2286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75" name="Text 73"/>
          <p:cNvSpPr/>
          <p:nvPr/>
        </p:nvSpPr>
        <p:spPr>
          <a:xfrm>
            <a:off x="5294376" y="41605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</a:rPr>
              <a:t>📥 180M+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071616" y="4069080"/>
            <a:ext cx="2743200" cy="713232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071616" y="4069080"/>
            <a:ext cx="54864" cy="713232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78" name="Text 76"/>
          <p:cNvSpPr/>
          <p:nvPr/>
        </p:nvSpPr>
        <p:spPr>
          <a:xfrm>
            <a:off x="6208776" y="41056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intervention/image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6208776" y="4398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Traitement d'images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220456" y="4206240"/>
            <a:ext cx="530352" cy="2286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81" name="Text 79"/>
          <p:cNvSpPr/>
          <p:nvPr/>
        </p:nvSpPr>
        <p:spPr>
          <a:xfrm>
            <a:off x="8193024" y="416052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C"/>
                </a:solidFill>
              </a:rPr>
              <a:t>📥 80M+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C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VERSIONNEMENT SÉMANTIQUE &amp; SÉCURITÉ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64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04 / 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5029200" cy="132588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932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</a:rPr>
              <a:t>📐  Versionnement Sémantique  MAJOR.MINOR.PATCH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50292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46888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^2.5.0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</a:rPr>
                        <a:t>≥ 2.5.0 et &lt; 3.0.0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</a:rPr>
                        <a:t>✅ Sûr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~2.5.0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</a:rPr>
                        <a:t>≥ 2.5.0 et &lt; 2.6.0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</a:rPr>
                        <a:t>✅ Sûr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2.5.*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</a:rPr>
                        <a:t>Toute version 2.5.x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</a:rPr>
                        <a:t>✅ Sûr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&gt;=2.5 &lt;3.0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</a:rPr>
                        <a:t>Plage explicite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FB950"/>
                          </a:solidFill>
                        </a:rPr>
                        <a:t>✅ Sûr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</a:rPr>
                        <a:t>N'importe quelle version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78166"/>
                          </a:solidFill>
                        </a:rPr>
                        <a:t>⚠️ Risqué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dev-main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</a:rPr>
                        <a:t>Branche de dépôt Git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78166"/>
                          </a:solidFill>
                        </a:rPr>
                        <a:t>⛔ Instable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669280" y="896112"/>
            <a:ext cx="3200400" cy="411480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896112"/>
            <a:ext cx="32004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0" y="9784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🔒  composer.lock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60720" y="14173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📌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99632" y="146304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Verrouille les versions exactes de chaque dépendance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60720" y="19842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99632" y="2029968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Garantit que tous les développeurs ont les mêmes versions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760720" y="25511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99632" y="2596896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Le serveur de prod installe exactement ce qui a été testé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60720" y="311810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99632" y="3163824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DOIT être commité dans Git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60720" y="3685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99632" y="3730752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Mis à jour avec composer update uniquement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760720" y="42519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199632" y="429768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composer install lit le .lock (pas le .json)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7B7FB5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RÉCAPITULATIF — CE QUE VOUS AVEZ APPRIS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178308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402336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051560"/>
            <a:ext cx="502920" cy="5029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051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Fonctions Anonymes, Arrow &amp; Closures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Fonctions sans nom · fn() =&gt; · Capture use · Factories · Callbacks puissants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023360" cy="178308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834640"/>
            <a:ext cx="402336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97180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971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Fonctions Natives de Tableaux (array_*)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5844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map · filter · reduce · merge · slice · unique · search · flip · chunk…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914400"/>
            <a:ext cx="4023360" cy="178308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914400"/>
            <a:ext cx="402336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051560"/>
            <a:ext cx="502920" cy="502920"/>
          </a:xfrm>
          <a:prstGeom prst="ellipse">
            <a:avLst/>
          </a:prstGeom>
          <a:solidFill>
            <a:srgbClr val="F78166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32120" y="10515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</a:rPr>
              <a:t>Composer — Gestionnaire de Dépendances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166420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composer.json · require · update · install · Autoloading PSR-4 · composer.lock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834640"/>
            <a:ext cx="4023360" cy="1783080"/>
          </a:xfrm>
          <a:prstGeom prst="rect">
            <a:avLst/>
          </a:prstGeom>
          <a:solidFill>
            <a:srgbClr val="21262D"/>
          </a:solidFill>
          <a:ln/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834640"/>
            <a:ext cx="402336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2971800"/>
            <a:ext cx="502920" cy="50292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2971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</a:rPr>
              <a:t>Packagist.org &amp; l'Écosystème PHP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5844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340K+ packages · Semver · Laravel · Symfony · PHPUnit · Guzzle · Monolog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F5B93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C"/>
                </a:solidFill>
              </a:rPr>
              <a:t>🐘  Maîtrisez PHP — Fonctions avancées · Tableaux · Composer · Packagist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Avancé — Fonctions, Tableaux, Composer &amp; Packagist</dc:title>
  <dc:subject>PptxGenJS Presentation</dc:subject>
  <dc:creator>PptxGenJS</dc:creator>
  <cp:lastModifiedBy>PptxGenJS</cp:lastModifiedBy>
  <cp:revision>1</cp:revision>
  <dcterms:created xsi:type="dcterms:W3CDTF">2026-06-28T02:53:45Z</dcterms:created>
  <dcterms:modified xsi:type="dcterms:W3CDTF">2026-06-28T02:53:45Z</dcterms:modified>
</cp:coreProperties>
</file>